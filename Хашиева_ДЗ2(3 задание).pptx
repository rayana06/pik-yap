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2" r:id="rId5"/>
    <p:sldId id="321" r:id="rId6"/>
    <p:sldId id="320" r:id="rId7"/>
    <p:sldId id="323" r:id="rId8"/>
    <p:sldId id="318" r:id="rId9"/>
    <p:sldId id="317" r:id="rId10"/>
    <p:sldId id="316" r:id="rId11"/>
    <p:sldId id="324" r:id="rId12"/>
    <p:sldId id="315" r:id="rId13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83" d="100"/>
          <a:sy n="83" d="100"/>
        </p:scale>
        <p:origin x="614" y="67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4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D39CCB62-B41B-43E2-AF69-37C6C3AA2A59}" type="datetime1">
              <a:rPr lang="ru-RU" smtClean="0"/>
              <a:t>17.11.2024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00AC623C-86E0-4A85-83FB-F4A716956FD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01FECD02-157A-4A16-9860-7FB311FE85A2}" type="datetime1">
              <a:rPr lang="ru-RU" smtClean="0"/>
              <a:t>17.11.2024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37D7554-D10C-4E29-B8E6-BB7111FA614F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8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0935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3503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6248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4190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37D7554-D10C-4E29-B8E6-BB7111FA614F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8140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рисун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подзаголовок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Текст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ru-RU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9" name="Текст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ru-RU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Объект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ru-RU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ru-RU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ru-RU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ru-RU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рисунок и содержимое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Объект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4" name="Заполнитель таблицы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объекта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ru-RU" sz="2000"/>
            </a:lvl1pPr>
            <a:lvl2pPr>
              <a:lnSpc>
                <a:spcPct val="100000"/>
              </a:lnSpc>
              <a:spcAft>
                <a:spcPts val="600"/>
              </a:spcAft>
              <a:defRPr lang="ru-RU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ru-RU" sz="2000"/>
            </a:lvl3pPr>
            <a:lvl4pPr>
              <a:lnSpc>
                <a:spcPct val="100000"/>
              </a:lnSpc>
              <a:spcAft>
                <a:spcPts val="1200"/>
              </a:spcAft>
              <a:defRPr lang="ru-RU" sz="2000"/>
            </a:lvl4pPr>
            <a:lvl5pPr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ru-RU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ru-RU" sz="2000"/>
            </a:lvl2pPr>
            <a:lvl3pPr marL="1257300" indent="-342900">
              <a:buFont typeface="Arial" panose="020B0604020202020204" pitchFamily="34" charset="0"/>
              <a:buChar char="•"/>
              <a:defRPr lang="ru-RU" sz="2000"/>
            </a:lvl3pPr>
            <a:lvl4pPr marL="1714500" indent="-342900">
              <a:buFont typeface="Arial" panose="020B0604020202020204" pitchFamily="34" charset="0"/>
              <a:buChar char="•"/>
              <a:defRPr lang="ru-RU" sz="2000"/>
            </a:lvl4pPr>
            <a:lvl5pPr marL="2171700" indent="-342900">
              <a:buFont typeface="Arial" panose="020B0604020202020204" pitchFamily="34" charset="0"/>
              <a:buChar char="•"/>
              <a:defRPr lang="ru-RU" sz="20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аблица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2" name="Номер слайда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ru-RU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179" y="-138545"/>
            <a:ext cx="5185821" cy="450272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Сравнение языков программирования С ++ и </a:t>
            </a:r>
            <a:r>
              <a:rPr lang="en-US" dirty="0"/>
              <a:t>Python</a:t>
            </a:r>
            <a:r>
              <a:rPr lang="ru-RU" dirty="0"/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03893D-6E62-4284-BDE6-E17E1633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582" y="196273"/>
            <a:ext cx="4128655" cy="362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4664B1B-85F0-4452-A8C2-5A9DCFE1EC52}"/>
              </a:ext>
            </a:extLst>
          </p:cNvPr>
          <p:cNvSpPr txBox="1">
            <a:spLocks/>
          </p:cNvSpPr>
          <p:nvPr/>
        </p:nvSpPr>
        <p:spPr>
          <a:xfrm>
            <a:off x="10686870" y="2355273"/>
            <a:ext cx="5185821" cy="45027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 err="1"/>
              <a:t>Хашиева</a:t>
            </a:r>
            <a:r>
              <a:rPr lang="ru-RU" sz="2000" dirty="0"/>
              <a:t> Р.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7266"/>
            <a:ext cx="4640418" cy="123969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Широкая популярность С++ и </a:t>
            </a:r>
            <a:r>
              <a:rPr lang="en-US" dirty="0"/>
              <a:t>Python</a:t>
            </a:r>
          </a:p>
          <a:p>
            <a:pPr rtl="0"/>
            <a:r>
              <a:rPr lang="ru-RU" dirty="0"/>
              <a:t>Разные области определения </a:t>
            </a:r>
          </a:p>
          <a:p>
            <a:pPr rtl="0"/>
            <a:r>
              <a:rPr lang="ru-RU" dirty="0"/>
              <a:t>Важность выбора языка для конкретных задач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/>
              <a:t>2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194B9B-2384-4008-917B-EE3191B2D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85455"/>
            <a:ext cx="5181600" cy="432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5" y="83126"/>
            <a:ext cx="5000318" cy="1277925"/>
          </a:xfrm>
        </p:spPr>
        <p:txBody>
          <a:bodyPr rtlCol="0">
            <a:normAutofit fontScale="90000"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Цель</a:t>
            </a:r>
            <a:r>
              <a:rPr lang="en-US" dirty="0"/>
              <a:t>: </a:t>
            </a:r>
            <a:r>
              <a:rPr lang="ru-RU" sz="3300" dirty="0"/>
              <a:t>Выявить сильные и слабые стороны С++ и </a:t>
            </a:r>
            <a:r>
              <a:rPr lang="en-US" sz="3300" dirty="0"/>
              <a:t>Python</a:t>
            </a:r>
            <a:endParaRPr lang="ru-RU" sz="33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4AACC6A-9BC5-4BF1-900C-5852244BB3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2EF20BC-B2A9-4C45-807A-468DE1191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534" y="1361051"/>
            <a:ext cx="3849866" cy="2719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494DFAA7-452D-4FE5-B4B3-1FDF6DD0DC49}"/>
              </a:ext>
            </a:extLst>
          </p:cNvPr>
          <p:cNvSpPr txBox="1">
            <a:spLocks/>
          </p:cNvSpPr>
          <p:nvPr/>
        </p:nvSpPr>
        <p:spPr>
          <a:xfrm>
            <a:off x="6743744" y="4196615"/>
            <a:ext cx="5000318" cy="227807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2500" lnSpcReduction="20000"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300" dirty="0"/>
              <a:t>Задача</a:t>
            </a:r>
            <a:r>
              <a:rPr lang="en-US" sz="3300" dirty="0"/>
              <a:t>:</a:t>
            </a:r>
            <a:r>
              <a:rPr lang="ru-RU" sz="3300" dirty="0"/>
              <a:t> </a:t>
            </a:r>
          </a:p>
          <a:p>
            <a:endParaRPr lang="ru-RU" sz="3300" dirty="0"/>
          </a:p>
          <a:p>
            <a:r>
              <a:rPr lang="ru-RU" sz="2400" dirty="0"/>
              <a:t>1.Сравнить </a:t>
            </a:r>
            <a:r>
              <a:rPr lang="ru-RU" sz="2400" dirty="0" err="1"/>
              <a:t>синтексис</a:t>
            </a:r>
            <a:r>
              <a:rPr lang="ru-RU" sz="2400" dirty="0"/>
              <a:t> и функциональность</a:t>
            </a:r>
            <a:r>
              <a:rPr lang="en-US" sz="2400" dirty="0"/>
              <a:t> </a:t>
            </a:r>
            <a:endParaRPr lang="ru-RU" sz="2400" dirty="0"/>
          </a:p>
          <a:p>
            <a:endParaRPr lang="ru-RU" sz="2400" dirty="0"/>
          </a:p>
          <a:p>
            <a:r>
              <a:rPr lang="ru-RU" sz="2400" dirty="0"/>
              <a:t>2. Оценить производительность </a:t>
            </a:r>
          </a:p>
          <a:p>
            <a:endParaRPr lang="ru-RU" sz="2400" dirty="0"/>
          </a:p>
          <a:p>
            <a:r>
              <a:rPr lang="ru-RU" sz="2400" dirty="0"/>
              <a:t>3. Проанализировать сферы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84C15D1-F243-440D-BC62-9369B208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59" y="0"/>
            <a:ext cx="9808773" cy="785091"/>
          </a:xfrm>
        </p:spPr>
        <p:txBody>
          <a:bodyPr/>
          <a:lstStyle/>
          <a:p>
            <a:r>
              <a:rPr lang="ru-RU" dirty="0"/>
              <a:t>Основные особенности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847032C-2414-4772-B216-1958321759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69486" y="809335"/>
            <a:ext cx="4507114" cy="52878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ru-RU" dirty="0"/>
              <a:t>Характеристика </a:t>
            </a:r>
          </a:p>
        </p:txBody>
      </p:sp>
      <p:sp>
        <p:nvSpPr>
          <p:cNvPr id="8" name="Объект 6">
            <a:extLst>
              <a:ext uri="{FF2B5EF4-FFF2-40B4-BE49-F238E27FC236}">
                <a16:creationId xmlns:a16="http://schemas.microsoft.com/office/drawing/2014/main" id="{B1D8A4EA-9BB2-476F-BBC1-11477B017DBE}"/>
              </a:ext>
            </a:extLst>
          </p:cNvPr>
          <p:cNvSpPr txBox="1">
            <a:spLocks/>
          </p:cNvSpPr>
          <p:nvPr/>
        </p:nvSpPr>
        <p:spPr>
          <a:xfrm>
            <a:off x="6183274" y="809335"/>
            <a:ext cx="2207491" cy="52878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Питон </a:t>
            </a:r>
          </a:p>
        </p:txBody>
      </p:sp>
      <p:sp>
        <p:nvSpPr>
          <p:cNvPr id="10" name="Объект 6">
            <a:extLst>
              <a:ext uri="{FF2B5EF4-FFF2-40B4-BE49-F238E27FC236}">
                <a16:creationId xmlns:a16="http://schemas.microsoft.com/office/drawing/2014/main" id="{E1E7AEB4-A8D4-45A8-84CB-4DC618E5CA3B}"/>
              </a:ext>
            </a:extLst>
          </p:cNvPr>
          <p:cNvSpPr txBox="1">
            <a:spLocks/>
          </p:cNvSpPr>
          <p:nvPr/>
        </p:nvSpPr>
        <p:spPr>
          <a:xfrm>
            <a:off x="1588886" y="2851475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Простота освоения</a:t>
            </a:r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371C0164-D415-460B-AE2F-563F587E03A6}"/>
              </a:ext>
            </a:extLst>
          </p:cNvPr>
          <p:cNvSpPr txBox="1">
            <a:spLocks/>
          </p:cNvSpPr>
          <p:nvPr/>
        </p:nvSpPr>
        <p:spPr>
          <a:xfrm>
            <a:off x="6183271" y="1651475"/>
            <a:ext cx="2207491" cy="1026589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Легко </a:t>
            </a: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2FB39402-620E-4061-A18A-DDE478B11DB7}"/>
              </a:ext>
            </a:extLst>
          </p:cNvPr>
          <p:cNvSpPr txBox="1">
            <a:spLocks/>
          </p:cNvSpPr>
          <p:nvPr/>
        </p:nvSpPr>
        <p:spPr>
          <a:xfrm>
            <a:off x="8497441" y="809335"/>
            <a:ext cx="2207491" cy="52878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С++</a:t>
            </a:r>
          </a:p>
        </p:txBody>
      </p:sp>
      <p:sp>
        <p:nvSpPr>
          <p:cNvPr id="14" name="Объект 6">
            <a:extLst>
              <a:ext uri="{FF2B5EF4-FFF2-40B4-BE49-F238E27FC236}">
                <a16:creationId xmlns:a16="http://schemas.microsoft.com/office/drawing/2014/main" id="{6AB5960B-6D1D-4610-B413-551AD8386A36}"/>
              </a:ext>
            </a:extLst>
          </p:cNvPr>
          <p:cNvSpPr txBox="1">
            <a:spLocks/>
          </p:cNvSpPr>
          <p:nvPr/>
        </p:nvSpPr>
        <p:spPr>
          <a:xfrm>
            <a:off x="8497438" y="1650791"/>
            <a:ext cx="2207491" cy="1035629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Сложно</a:t>
            </a:r>
          </a:p>
        </p:txBody>
      </p:sp>
      <p:sp>
        <p:nvSpPr>
          <p:cNvPr id="15" name="Объект 6">
            <a:extLst>
              <a:ext uri="{FF2B5EF4-FFF2-40B4-BE49-F238E27FC236}">
                <a16:creationId xmlns:a16="http://schemas.microsoft.com/office/drawing/2014/main" id="{D96FF1AA-F084-4E9B-B084-99366CF48445}"/>
              </a:ext>
            </a:extLst>
          </p:cNvPr>
          <p:cNvSpPr txBox="1">
            <a:spLocks/>
          </p:cNvSpPr>
          <p:nvPr/>
        </p:nvSpPr>
        <p:spPr>
          <a:xfrm>
            <a:off x="1569486" y="4060515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Производительность 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DB3972B3-DB9F-4E07-AAD3-FA367A823EB8}"/>
              </a:ext>
            </a:extLst>
          </p:cNvPr>
          <p:cNvSpPr txBox="1">
            <a:spLocks/>
          </p:cNvSpPr>
          <p:nvPr/>
        </p:nvSpPr>
        <p:spPr>
          <a:xfrm>
            <a:off x="6192974" y="2851474"/>
            <a:ext cx="2207491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Низкая </a:t>
            </a:r>
          </a:p>
        </p:txBody>
      </p:sp>
      <p:sp>
        <p:nvSpPr>
          <p:cNvPr id="18" name="Объект 6">
            <a:extLst>
              <a:ext uri="{FF2B5EF4-FFF2-40B4-BE49-F238E27FC236}">
                <a16:creationId xmlns:a16="http://schemas.microsoft.com/office/drawing/2014/main" id="{AFEB709E-7BC8-4140-8D57-B165C2944BC5}"/>
              </a:ext>
            </a:extLst>
          </p:cNvPr>
          <p:cNvSpPr txBox="1">
            <a:spLocks/>
          </p:cNvSpPr>
          <p:nvPr/>
        </p:nvSpPr>
        <p:spPr>
          <a:xfrm>
            <a:off x="8497438" y="2851474"/>
            <a:ext cx="2207491" cy="103563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Высокая</a:t>
            </a:r>
          </a:p>
        </p:txBody>
      </p:sp>
      <p:sp>
        <p:nvSpPr>
          <p:cNvPr id="19" name="Объект 6">
            <a:extLst>
              <a:ext uri="{FF2B5EF4-FFF2-40B4-BE49-F238E27FC236}">
                <a16:creationId xmlns:a16="http://schemas.microsoft.com/office/drawing/2014/main" id="{F31888E2-F69E-434F-9C9E-8E8C8AB4B5CF}"/>
              </a:ext>
            </a:extLst>
          </p:cNvPr>
          <p:cNvSpPr txBox="1">
            <a:spLocks/>
          </p:cNvSpPr>
          <p:nvPr/>
        </p:nvSpPr>
        <p:spPr>
          <a:xfrm>
            <a:off x="1569484" y="1642435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Область применения</a:t>
            </a:r>
          </a:p>
        </p:txBody>
      </p:sp>
      <p:sp>
        <p:nvSpPr>
          <p:cNvPr id="20" name="Объект 6">
            <a:extLst>
              <a:ext uri="{FF2B5EF4-FFF2-40B4-BE49-F238E27FC236}">
                <a16:creationId xmlns:a16="http://schemas.microsoft.com/office/drawing/2014/main" id="{705ED0DB-9D03-4DB0-AABF-A2BEEBCCB3EF}"/>
              </a:ext>
            </a:extLst>
          </p:cNvPr>
          <p:cNvSpPr txBox="1">
            <a:spLocks/>
          </p:cNvSpPr>
          <p:nvPr/>
        </p:nvSpPr>
        <p:spPr>
          <a:xfrm>
            <a:off x="6183272" y="4060514"/>
            <a:ext cx="2207491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Анализ данных</a:t>
            </a:r>
          </a:p>
        </p:txBody>
      </p:sp>
      <p:sp>
        <p:nvSpPr>
          <p:cNvPr id="21" name="Объект 6">
            <a:extLst>
              <a:ext uri="{FF2B5EF4-FFF2-40B4-BE49-F238E27FC236}">
                <a16:creationId xmlns:a16="http://schemas.microsoft.com/office/drawing/2014/main" id="{BD76DD2A-E789-416E-BE98-074D8C0C3635}"/>
              </a:ext>
            </a:extLst>
          </p:cNvPr>
          <p:cNvSpPr txBox="1">
            <a:spLocks/>
          </p:cNvSpPr>
          <p:nvPr/>
        </p:nvSpPr>
        <p:spPr>
          <a:xfrm>
            <a:off x="8497439" y="4060514"/>
            <a:ext cx="2207491" cy="1035630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Системное программирование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2561583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9" y="1083475"/>
            <a:ext cx="4627185" cy="1427585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Питон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520633"/>
            <a:ext cx="4645847" cy="181673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Анализ данных</a:t>
            </a:r>
          </a:p>
          <a:p>
            <a:pPr rtl="0"/>
            <a:r>
              <a:rPr lang="ru-RU" dirty="0"/>
              <a:t>Искусственный интеллект</a:t>
            </a:r>
          </a:p>
          <a:p>
            <a:pPr rtl="0"/>
            <a:r>
              <a:rPr lang="ru-RU" dirty="0"/>
              <a:t>Веб-разработка</a:t>
            </a:r>
          </a:p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5</a:t>
            </a:fld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DE0562B-67EE-4C86-B3F6-86582AA5E8F3}"/>
              </a:ext>
            </a:extLst>
          </p:cNvPr>
          <p:cNvSpPr txBox="1">
            <a:spLocks/>
          </p:cNvSpPr>
          <p:nvPr/>
        </p:nvSpPr>
        <p:spPr>
          <a:xfrm>
            <a:off x="6114661" y="1083475"/>
            <a:ext cx="4627185" cy="142758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С++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3C0EE251-47F9-424E-82E0-FFAB1C7BB2B0}"/>
              </a:ext>
            </a:extLst>
          </p:cNvPr>
          <p:cNvSpPr txBox="1">
            <a:spLocks/>
          </p:cNvSpPr>
          <p:nvPr/>
        </p:nvSpPr>
        <p:spPr>
          <a:xfrm>
            <a:off x="6096000" y="2520633"/>
            <a:ext cx="4645847" cy="181673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ru-RU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Игровая индустрия</a:t>
            </a:r>
          </a:p>
          <a:p>
            <a:r>
              <a:rPr lang="ru-RU" dirty="0"/>
              <a:t>Встроенные системы</a:t>
            </a:r>
          </a:p>
          <a:p>
            <a:r>
              <a:rPr lang="ru-RU" dirty="0"/>
              <a:t>Высоконагруженные приложения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930BF41-762F-46E9-9A28-8A5C18E41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247" y="3967365"/>
            <a:ext cx="7776829" cy="2302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DA4D896-E79E-409D-AC86-B01184B7B1B7}"/>
              </a:ext>
            </a:extLst>
          </p:cNvPr>
          <p:cNvSpPr txBox="1">
            <a:spLocks/>
          </p:cNvSpPr>
          <p:nvPr/>
        </p:nvSpPr>
        <p:spPr>
          <a:xfrm>
            <a:off x="1381118" y="80997"/>
            <a:ext cx="4627185" cy="72336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Сферы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C9A06B-23C8-4C83-ACFF-1BEDBADD0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03" y="2121759"/>
            <a:ext cx="6276975" cy="638175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CA985379-BF57-40D0-A990-7BDA184A0AC6}"/>
              </a:ext>
            </a:extLst>
          </p:cNvPr>
          <p:cNvSpPr txBox="1">
            <a:spLocks/>
          </p:cNvSpPr>
          <p:nvPr/>
        </p:nvSpPr>
        <p:spPr>
          <a:xfrm>
            <a:off x="6443522" y="4140900"/>
            <a:ext cx="4907694" cy="1002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000" dirty="0"/>
              <a:t>Код </a:t>
            </a:r>
            <a:r>
              <a:rPr lang="en-US" sz="5000" dirty="0"/>
              <a:t>Python</a:t>
            </a:r>
            <a:endParaRPr lang="ru-RU" sz="5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111FA6E-21C2-4BC1-B62B-61CE9B3BB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642" y="5181730"/>
            <a:ext cx="5486400" cy="676275"/>
          </a:xfrm>
          <a:prstGeom prst="rect">
            <a:avLst/>
          </a:prstGeom>
        </p:spPr>
      </p:pic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9B45CD21-20B0-4717-B1E5-FD45C9063D08}"/>
              </a:ext>
            </a:extLst>
          </p:cNvPr>
          <p:cNvSpPr txBox="1">
            <a:spLocks/>
          </p:cNvSpPr>
          <p:nvPr/>
        </p:nvSpPr>
        <p:spPr>
          <a:xfrm>
            <a:off x="847003" y="1257874"/>
            <a:ext cx="4907694" cy="1002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5000" dirty="0"/>
              <a:t>Код С++</a:t>
            </a:r>
          </a:p>
        </p:txBody>
      </p:sp>
      <p:sp>
        <p:nvSpPr>
          <p:cNvPr id="16" name="Заголовок 8">
            <a:extLst>
              <a:ext uri="{FF2B5EF4-FFF2-40B4-BE49-F238E27FC236}">
                <a16:creationId xmlns:a16="http://schemas.microsoft.com/office/drawing/2014/main" id="{FB29B15F-BC40-4D36-8998-6E6D12CBCE97}"/>
              </a:ext>
            </a:extLst>
          </p:cNvPr>
          <p:cNvSpPr txBox="1">
            <a:spLocks/>
          </p:cNvSpPr>
          <p:nvPr/>
        </p:nvSpPr>
        <p:spPr>
          <a:xfrm>
            <a:off x="847003" y="0"/>
            <a:ext cx="11193039" cy="1002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500" dirty="0"/>
              <a:t>Пример 1(синтаксис)</a:t>
            </a: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732" y="170522"/>
            <a:ext cx="10494168" cy="85064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/>
            <a:r>
              <a:rPr lang="ru-RU" sz="4000" dirty="0"/>
              <a:t>Пример 2 (производительность) 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E0B6DF4-996A-46B6-9D4B-EC3CE7610B82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278732" y="3053866"/>
            <a:ext cx="4627562" cy="552231"/>
          </a:xfrm>
        </p:spPr>
      </p:pic>
      <p:sp>
        <p:nvSpPr>
          <p:cNvPr id="2" name="Объект 1">
            <a:extLst>
              <a:ext uri="{FF2B5EF4-FFF2-40B4-BE49-F238E27FC236}">
                <a16:creationId xmlns:a16="http://schemas.microsoft.com/office/drawing/2014/main" id="{C7992593-AF79-3D1E-E253-0765DF0F51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78732" y="3703546"/>
            <a:ext cx="2600541" cy="870023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Питон</a:t>
            </a:r>
            <a:r>
              <a:rPr lang="en-US" dirty="0"/>
              <a:t>:</a:t>
            </a:r>
            <a:r>
              <a:rPr lang="ru-RU" dirty="0"/>
              <a:t> за 10 секунд</a:t>
            </a: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ru-RU"/>
            </a:defPPr>
          </a:lstStyle>
          <a:p>
            <a:fld id="{18D65601-5AE2-46FC-B138-694DDD2B510D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2" name="Заголовок 2">
            <a:extLst>
              <a:ext uri="{FF2B5EF4-FFF2-40B4-BE49-F238E27FC236}">
                <a16:creationId xmlns:a16="http://schemas.microsoft.com/office/drawing/2014/main" id="{F737256A-21E5-4AF5-8DA3-FD5E71BD4A03}"/>
              </a:ext>
            </a:extLst>
          </p:cNvPr>
          <p:cNvSpPr txBox="1">
            <a:spLocks/>
          </p:cNvSpPr>
          <p:nvPr/>
        </p:nvSpPr>
        <p:spPr>
          <a:xfrm>
            <a:off x="1292227" y="2037515"/>
            <a:ext cx="4714875" cy="142875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Python</a:t>
            </a:r>
            <a:endParaRPr lang="ru-RU" sz="3000" dirty="0"/>
          </a:p>
        </p:txBody>
      </p:sp>
      <p:sp>
        <p:nvSpPr>
          <p:cNvPr id="23" name="Заголовок 2">
            <a:extLst>
              <a:ext uri="{FF2B5EF4-FFF2-40B4-BE49-F238E27FC236}">
                <a16:creationId xmlns:a16="http://schemas.microsoft.com/office/drawing/2014/main" id="{E404FB58-A4DD-4E03-911F-51FB2573193D}"/>
              </a:ext>
            </a:extLst>
          </p:cNvPr>
          <p:cNvSpPr txBox="1">
            <a:spLocks/>
          </p:cNvSpPr>
          <p:nvPr/>
        </p:nvSpPr>
        <p:spPr>
          <a:xfrm>
            <a:off x="6665118" y="807316"/>
            <a:ext cx="4714875" cy="1428750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C++</a:t>
            </a:r>
            <a:endParaRPr lang="ru-RU" sz="30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2207CC5-1C7B-4801-AC37-9946AE174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1759816"/>
            <a:ext cx="5267325" cy="2686050"/>
          </a:xfrm>
          <a:prstGeom prst="rect">
            <a:avLst/>
          </a:prstGeom>
        </p:spPr>
      </p:pic>
      <p:sp>
        <p:nvSpPr>
          <p:cNvPr id="26" name="Объект 1">
            <a:extLst>
              <a:ext uri="{FF2B5EF4-FFF2-40B4-BE49-F238E27FC236}">
                <a16:creationId xmlns:a16="http://schemas.microsoft.com/office/drawing/2014/main" id="{4604DD81-7979-4986-839E-151B3AFE1F0B}"/>
              </a:ext>
            </a:extLst>
          </p:cNvPr>
          <p:cNvSpPr txBox="1">
            <a:spLocks/>
          </p:cNvSpPr>
          <p:nvPr/>
        </p:nvSpPr>
        <p:spPr>
          <a:xfrm>
            <a:off x="6505575" y="4528343"/>
            <a:ext cx="2600541" cy="87002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C++</a:t>
            </a:r>
            <a:r>
              <a:rPr lang="ru-RU" dirty="0"/>
              <a:t>: за </a:t>
            </a:r>
            <a:r>
              <a:rPr lang="en-US" dirty="0"/>
              <a:t>2</a:t>
            </a:r>
            <a:r>
              <a:rPr lang="ru-RU" dirty="0"/>
              <a:t> секунд</a:t>
            </a:r>
          </a:p>
          <a:p>
            <a:endParaRPr lang="ru-RU" dirty="0"/>
          </a:p>
        </p:txBody>
      </p:sp>
      <p:sp>
        <p:nvSpPr>
          <p:cNvPr id="27" name="Заголовок 2">
            <a:extLst>
              <a:ext uri="{FF2B5EF4-FFF2-40B4-BE49-F238E27FC236}">
                <a16:creationId xmlns:a16="http://schemas.microsoft.com/office/drawing/2014/main" id="{4B847DAB-19BB-4B39-A60B-0B92C4DFA5E7}"/>
              </a:ext>
            </a:extLst>
          </p:cNvPr>
          <p:cNvSpPr txBox="1">
            <a:spLocks/>
          </p:cNvSpPr>
          <p:nvPr/>
        </p:nvSpPr>
        <p:spPr>
          <a:xfrm>
            <a:off x="1292227" y="1186873"/>
            <a:ext cx="4728370" cy="850642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500"/>
              <a:t>Обработка 1 миллиона числа </a:t>
            </a:r>
            <a:endParaRPr lang="ru-RU" sz="2500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84C15D1-F243-440D-BC62-9369B208C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59" y="0"/>
            <a:ext cx="9808773" cy="785091"/>
          </a:xfrm>
        </p:spPr>
        <p:txBody>
          <a:bodyPr/>
          <a:lstStyle/>
          <a:p>
            <a:r>
              <a:rPr lang="ru-RU" dirty="0"/>
              <a:t>Преимущества и недостатки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847032C-2414-4772-B216-1958321759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69486" y="809335"/>
            <a:ext cx="4507114" cy="52878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ru-RU" sz="2500" dirty="0"/>
              <a:t>Питон</a:t>
            </a:r>
          </a:p>
        </p:txBody>
      </p:sp>
      <p:sp>
        <p:nvSpPr>
          <p:cNvPr id="10" name="Объект 6">
            <a:extLst>
              <a:ext uri="{FF2B5EF4-FFF2-40B4-BE49-F238E27FC236}">
                <a16:creationId xmlns:a16="http://schemas.microsoft.com/office/drawing/2014/main" id="{E1E7AEB4-A8D4-45A8-84CB-4DC618E5CA3B}"/>
              </a:ext>
            </a:extLst>
          </p:cNvPr>
          <p:cNvSpPr txBox="1">
            <a:spLocks/>
          </p:cNvSpPr>
          <p:nvPr/>
        </p:nvSpPr>
        <p:spPr>
          <a:xfrm>
            <a:off x="1588886" y="2851475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Богатые библиотеки</a:t>
            </a:r>
          </a:p>
        </p:txBody>
      </p:sp>
      <p:sp>
        <p:nvSpPr>
          <p:cNvPr id="12" name="Объект 6">
            <a:extLst>
              <a:ext uri="{FF2B5EF4-FFF2-40B4-BE49-F238E27FC236}">
                <a16:creationId xmlns:a16="http://schemas.microsoft.com/office/drawing/2014/main" id="{371C0164-D415-460B-AE2F-563F587E03A6}"/>
              </a:ext>
            </a:extLst>
          </p:cNvPr>
          <p:cNvSpPr txBox="1">
            <a:spLocks/>
          </p:cNvSpPr>
          <p:nvPr/>
        </p:nvSpPr>
        <p:spPr>
          <a:xfrm>
            <a:off x="6183271" y="1651475"/>
            <a:ext cx="4507114" cy="1026589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Высокая скорость выполнения  </a:t>
            </a:r>
          </a:p>
        </p:txBody>
      </p:sp>
      <p:sp>
        <p:nvSpPr>
          <p:cNvPr id="13" name="Объект 6">
            <a:extLst>
              <a:ext uri="{FF2B5EF4-FFF2-40B4-BE49-F238E27FC236}">
                <a16:creationId xmlns:a16="http://schemas.microsoft.com/office/drawing/2014/main" id="{2FB39402-620E-4061-A18A-DDE478B11DB7}"/>
              </a:ext>
            </a:extLst>
          </p:cNvPr>
          <p:cNvSpPr txBox="1">
            <a:spLocks/>
          </p:cNvSpPr>
          <p:nvPr/>
        </p:nvSpPr>
        <p:spPr>
          <a:xfrm>
            <a:off x="6192975" y="809335"/>
            <a:ext cx="4511958" cy="52878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500" dirty="0"/>
              <a:t>С++</a:t>
            </a:r>
          </a:p>
        </p:txBody>
      </p:sp>
      <p:sp>
        <p:nvSpPr>
          <p:cNvPr id="15" name="Объект 6">
            <a:extLst>
              <a:ext uri="{FF2B5EF4-FFF2-40B4-BE49-F238E27FC236}">
                <a16:creationId xmlns:a16="http://schemas.microsoft.com/office/drawing/2014/main" id="{D96FF1AA-F084-4E9B-B084-99366CF48445}"/>
              </a:ext>
            </a:extLst>
          </p:cNvPr>
          <p:cNvSpPr txBox="1">
            <a:spLocks/>
          </p:cNvSpPr>
          <p:nvPr/>
        </p:nvSpPr>
        <p:spPr>
          <a:xfrm>
            <a:off x="1569486" y="4060515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Низкая производительность </a:t>
            </a:r>
          </a:p>
        </p:txBody>
      </p:sp>
      <p:sp>
        <p:nvSpPr>
          <p:cNvPr id="17" name="Объект 6">
            <a:extLst>
              <a:ext uri="{FF2B5EF4-FFF2-40B4-BE49-F238E27FC236}">
                <a16:creationId xmlns:a16="http://schemas.microsoft.com/office/drawing/2014/main" id="{DB3972B3-DB9F-4E07-AAD3-FA367A823EB8}"/>
              </a:ext>
            </a:extLst>
          </p:cNvPr>
          <p:cNvSpPr txBox="1">
            <a:spLocks/>
          </p:cNvSpPr>
          <p:nvPr/>
        </p:nvSpPr>
        <p:spPr>
          <a:xfrm>
            <a:off x="6192974" y="2851474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Широкий контроль над памятью</a:t>
            </a:r>
          </a:p>
        </p:txBody>
      </p:sp>
      <p:sp>
        <p:nvSpPr>
          <p:cNvPr id="19" name="Объект 6">
            <a:extLst>
              <a:ext uri="{FF2B5EF4-FFF2-40B4-BE49-F238E27FC236}">
                <a16:creationId xmlns:a16="http://schemas.microsoft.com/office/drawing/2014/main" id="{F31888E2-F69E-434F-9C9E-8E8C8AB4B5CF}"/>
              </a:ext>
            </a:extLst>
          </p:cNvPr>
          <p:cNvSpPr txBox="1">
            <a:spLocks/>
          </p:cNvSpPr>
          <p:nvPr/>
        </p:nvSpPr>
        <p:spPr>
          <a:xfrm>
            <a:off x="1569484" y="1642435"/>
            <a:ext cx="4507114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Простота и лаконичность</a:t>
            </a:r>
          </a:p>
        </p:txBody>
      </p:sp>
      <p:sp>
        <p:nvSpPr>
          <p:cNvPr id="20" name="Объект 6">
            <a:extLst>
              <a:ext uri="{FF2B5EF4-FFF2-40B4-BE49-F238E27FC236}">
                <a16:creationId xmlns:a16="http://schemas.microsoft.com/office/drawing/2014/main" id="{705ED0DB-9D03-4DB0-AABF-A2BEEBCCB3EF}"/>
              </a:ext>
            </a:extLst>
          </p:cNvPr>
          <p:cNvSpPr txBox="1">
            <a:spLocks/>
          </p:cNvSpPr>
          <p:nvPr/>
        </p:nvSpPr>
        <p:spPr>
          <a:xfrm>
            <a:off x="6183272" y="4060514"/>
            <a:ext cx="4516816" cy="1035631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0" tIns="45720" rIns="91440" bIns="4572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Сложность синтаксиса</a:t>
            </a:r>
          </a:p>
        </p:txBody>
      </p:sp>
    </p:spTree>
    <p:extLst>
      <p:ext uri="{BB962C8B-B14F-4D97-AF65-F5344CB8AC3E}">
        <p14:creationId xmlns:p14="http://schemas.microsoft.com/office/powerpoint/2010/main" val="1592778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596" y="0"/>
            <a:ext cx="9808773" cy="1427585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Заключение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85D951B-D6C0-AB0A-0FFD-23670BE643E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427585"/>
            <a:ext cx="4396276" cy="4749279"/>
          </a:xfrm>
        </p:spPr>
        <p:txBody>
          <a:bodyPr rtlCol="0"/>
          <a:lstStyle>
            <a:defPPr>
              <a:defRPr lang="ru-RU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Оба языка имеют свои преимущества 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Питон – для быстрого прототипирования и аналитики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dirty="0"/>
              <a:t>С++ - для системного программирования и высоконагруженных систем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6D34B6A-AE84-4BD1-9E34-90DDE30F37B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/>
          <a:stretch>
            <a:fillRect/>
          </a:stretch>
        </p:blipFill>
        <p:spPr>
          <a:xfrm>
            <a:off x="7783644" y="1905000"/>
            <a:ext cx="3133725" cy="304800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18D65601-5AE2-46FC-B138-694DDD2B510D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59_TF78544816_Win32" id="{08C24B57-BF3C-4B8F-BD55-8BE3AAC8BEA8}" vid="{F9437CE3-892B-40E9-8EE4-1014FD9F69C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для конференции</Template>
  <TotalTime>101</TotalTime>
  <Words>179</Words>
  <Application>Microsoft Office PowerPoint</Application>
  <PresentationFormat>Широкоэкранный</PresentationFormat>
  <Paragraphs>69</Paragraphs>
  <Slides>9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Tisa Offc Serif Pro</vt:lpstr>
      <vt:lpstr>Univers Light</vt:lpstr>
      <vt:lpstr>Пользовательская</vt:lpstr>
      <vt:lpstr>Сравнение языков программирования С ++ и Python </vt:lpstr>
      <vt:lpstr>Актуальность</vt:lpstr>
      <vt:lpstr>Цель: Выявить сильные и слабые стороны С++ и Python</vt:lpstr>
      <vt:lpstr>Основные особенности:</vt:lpstr>
      <vt:lpstr>Питон</vt:lpstr>
      <vt:lpstr>Презентация PowerPoint</vt:lpstr>
      <vt:lpstr>Пример 2 (производительность) </vt:lpstr>
      <vt:lpstr>Преимущества и недостатки:</vt:lpstr>
      <vt:lpstr>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языков программирования С ++ и Python </dc:title>
  <dc:creator>Иклима</dc:creator>
  <cp:lastModifiedBy>Иклима</cp:lastModifiedBy>
  <cp:revision>1</cp:revision>
  <dcterms:created xsi:type="dcterms:W3CDTF">2024-11-17T10:57:06Z</dcterms:created>
  <dcterms:modified xsi:type="dcterms:W3CDTF">2024-11-17T12:39:04Z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